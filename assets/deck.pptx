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Equity</c:v>
                </c:pt>
              </c:strCache>
            </c:strRef>
          </c:tx>
          <c:spPr>
            <a:solidFill>
              <a:srgbClr val="F0B429"/>
            </a:solidFill>
            <a:ln w="38100" cap="flat">
              <a:solidFill>
                <a:srgbClr val="F0B42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0B429"/>
              </a:solidFill>
              <a:ln w="25400" cap="flat">
                <a:solidFill>
                  <a:srgbClr val="0B0E1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Start</c:v>
                  </c:pt>
                  <c:pt idx="1">
                    <c:v>Aug 31</c:v>
                  </c:pt>
                  <c:pt idx="2">
                    <c:v>Sep 1</c:v>
                  </c:pt>
                  <c:pt idx="3">
                    <c:v>Sep 3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100000</c:v>
                </c:pt>
                <c:pt idx="1">
                  <c:v>89283.95999999999</c:v>
                </c:pt>
                <c:pt idx="2">
                  <c:v>103637.12999999999</c:v>
                </c:pt>
                <c:pt idx="3">
                  <c:v>179087.12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686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0000"/>
          <c:min val="80000"/>
        </c:scaling>
        <c:delete val="0"/>
        <c:axPos val="l"/>
        <c:majorGridlines>
          <c:spPr>
            <a:ln w="12700" cap="flat">
              <a:solidFill>
                <a:srgbClr val="232A38"/>
              </a:solidFill>
              <a:prstDash val="solid"/>
              <a:round/>
            </a:ln>
          </c:spPr>
        </c:majorGridlines>
        <c:numFmt formatCode="$#,##0,\K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686"/>
                </a:solidFill>
                <a:latin typeface="Courier New"/>
              </a:defRPr>
            </a:pPr>
            <a:endParaRPr lang="en-US"/>
          </a:p>
        </c:txPr>
        <c:crossAx val="2094734554"/>
        <c:crosses val="autoZero"/>
        <c:crossBetween val="between"/>
        <c:majorUnit val="20000"/>
      </c:valAx>
      <c:spPr>
        <a:solidFill>
          <a:srgbClr val="141922"/>
        </a:solidFill>
        <a:ln>
          <a:noFill/>
        </a:ln>
        <a:effectLst/>
      </c:spPr>
    </c:plotArea>
    <c:plotVisOnly val="1"/>
    <c:dispBlanksAs val="span"/>
  </c:chart>
  <c:spPr>
    <a:solidFill>
      <a:srgbClr val="14192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number. A brand-new $100k paper account, and the agent is up +79.1% across 3 trading sessions.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figure on this slide is pulled from the Alpaca account at build time - nothing here is typed in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management runs before entry on every pass - the book is always managed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174 network-free tests cover the scorer, these gates, the sizing maths and the execution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submissions say 'LLM proposes, code decides'. This goes further: the model is wired so it cannot increase exposure even if it wanted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CLI is why the profit and loss two slides back is the real fill price from the broker, rather than a number the agent worked out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differentiator. Show a refusal record on screen - a judge seeing a complete decision trail, including the no-trades, is the most persuasive frame in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one-page write-up. The same content ships as docs/ONE_PAGER.md and docs/ONE_PAGER.pdf in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Alpaca AI Trading Agents Hackathon  ·  Sept 2026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6263640"/>
            <a:ext cx="5788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every-trade-provable.streamlit.app  ·  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Trade Provable.</a:t>
            </a:r>
            <a:endParaRPr lang="en-US" sz="52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52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Loss Capped.</a:t>
            </a:r>
            <a:endParaRPr lang="en-US" sz="5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70332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autonomous 0DTE options agent on Alpaca. Max loss capped by construction,</a:t>
            </a:r>
            <a:endParaRPr lang="en-US" sz="17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every decision it makes is journaled.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461772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4818888"/>
            <a:ext cx="3346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ALPACA PAPER · 3 SESSIONS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5111496"/>
            <a:ext cx="3346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+79.1%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5623560"/>
            <a:ext cx="3346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$100,000 → $179,087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81728" y="4617720"/>
            <a:ext cx="3291840" cy="1463040"/>
          </a:xfrm>
          <a:prstGeom prst="roundRect">
            <a:avLst>
              <a:gd name="adj" fmla="val 5000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974336" y="4818888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 LOSS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974336" y="5111496"/>
            <a:ext cx="2706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premium paid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974336" y="5623560"/>
            <a:ext cx="2706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Single-leg long only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74736" y="4617720"/>
            <a:ext cx="3465576" cy="1463040"/>
          </a:xfrm>
          <a:prstGeom prst="roundRect">
            <a:avLst>
              <a:gd name="adj" fmla="val 5000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67344" y="4818888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 ACCOUNT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467344" y="5111496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PA38HG4D9653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8467344" y="562356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Opened fresh for this event at $100,000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·  Results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6263640"/>
            <a:ext cx="5788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every-trade-provable.streamlit.app  ·  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fresh $100,000 account, 3 sessions, +79.1%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6492240" cy="3200400"/>
          </a:xfrm>
          <a:prstGeom prst="roundRect">
            <a:avLst>
              <a:gd name="adj" fmla="val 2286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901952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EQUITY · ALPACA PAPER PA38HG4D9653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13232" y="2212848"/>
          <a:ext cx="6163056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7269480" y="1901952"/>
            <a:ext cx="4370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REALISED BY SESSION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269480" y="2240280"/>
            <a:ext cx="4370832" cy="493776"/>
          </a:xfrm>
          <a:prstGeom prst="roundRect">
            <a:avLst>
              <a:gd name="adj" fmla="val 11111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52360" y="2240280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 31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458200" y="2240280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548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-$10,716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875520" y="2240280"/>
            <a:ext cx="1645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in / 16 out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269480" y="2807208"/>
            <a:ext cx="4370832" cy="493776"/>
          </a:xfrm>
          <a:prstGeom prst="roundRect">
            <a:avLst>
              <a:gd name="adj" fmla="val 11111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52360" y="280720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8458200" y="2807208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+$14,353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9875520" y="2807208"/>
            <a:ext cx="1645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in / 9 out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7269480" y="3374136"/>
            <a:ext cx="4370832" cy="493776"/>
          </a:xfrm>
          <a:prstGeom prst="roundRect">
            <a:avLst>
              <a:gd name="adj" fmla="val 11111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452360" y="337413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3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458200" y="337413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+$75,450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9875520" y="3374136"/>
            <a:ext cx="1645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in / 18 out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269480" y="4050792"/>
            <a:ext cx="4370832" cy="896112"/>
          </a:xfrm>
          <a:prstGeom prst="roundRect">
            <a:avLst>
              <a:gd name="adj" fmla="val 816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562088" y="4251960"/>
            <a:ext cx="3785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7562088" y="4544568"/>
            <a:ext cx="3785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+79.1%  ·  $179,087</a:t>
            </a:r>
            <a:endParaRPr lang="en-US" sz="21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1663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entries and 43 exits on SPY / QQQ / IWM, every one placed through the Alpaca CLI and booked at the real broker fill. Positions are flat at the close of every session - the agent never carries a 0DTE into expiry.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·  How it works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6263640"/>
            <a:ext cx="5788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every-trade-provable.streamlit.app  ·  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loop, six stages, no human in it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680972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130552"/>
            <a:ext cx="16809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SCAN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459736"/>
            <a:ext cx="14980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Alpaca 5m bars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2229612" y="246888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430780" y="1965960"/>
            <a:ext cx="1680972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430780" y="2130552"/>
            <a:ext cx="16809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522220" y="2459736"/>
            <a:ext cx="14980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VWAP, OR, RSI,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EMA, rel-vol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111752" y="246888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312920" y="1965960"/>
            <a:ext cx="1680972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312920" y="2130552"/>
            <a:ext cx="16809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404360" y="2459736"/>
            <a:ext cx="14980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noise band +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regime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993892" y="246888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195060" y="1965960"/>
            <a:ext cx="1680972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195060" y="2130552"/>
            <a:ext cx="16809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286500" y="2459736"/>
            <a:ext cx="14980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caps, cooldowns,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sizing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7876032" y="246888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077200" y="1965960"/>
            <a:ext cx="1680972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77200" y="2130552"/>
            <a:ext cx="16809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168640" y="2459736"/>
            <a:ext cx="14980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ATM long via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Alpaca CLI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9758172" y="246888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9959340" y="1965960"/>
            <a:ext cx="1680972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959340" y="2130552"/>
            <a:ext cx="16809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050780" y="2459736"/>
            <a:ext cx="149809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ladder exits,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15:50 flatten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3611880"/>
            <a:ext cx="3520440" cy="2240280"/>
          </a:xfrm>
          <a:prstGeom prst="roundRect">
            <a:avLst>
              <a:gd name="adj" fmla="val 3265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41248" y="3813048"/>
            <a:ext cx="2935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DEFINED BY CONSTRUCTION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41248" y="4105656"/>
            <a:ext cx="2935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loss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premium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841248" y="5029200"/>
            <a:ext cx="2935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Single-leg long only. The ceiling is set by the instrument, not by code that has to remember.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315968" y="3611880"/>
            <a:ext cx="3520440" cy="2240280"/>
          </a:xfrm>
          <a:prstGeom prst="roundRect">
            <a:avLst>
              <a:gd name="adj" fmla="val 3265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608576" y="3813048"/>
            <a:ext cx="2935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VALIDATED, NOT GUESSED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4608576" y="4105656"/>
            <a:ext cx="2935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264 sessions</a:t>
            </a:r>
            <a:endParaRPr lang="en-US" sz="20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5029200"/>
            <a:ext cx="2935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real OPRA option bars and 4,544 alerts stand behind every control that ships.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083296" y="3611880"/>
            <a:ext cx="3557016" cy="2240280"/>
          </a:xfrm>
          <a:prstGeom prst="roundRect">
            <a:avLst>
              <a:gd name="adj" fmla="val 3265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375904" y="3813048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FULLY AUTONOMOUS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375904" y="4105656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Docker,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unattended</a:t>
            </a:r>
            <a:endParaRPr lang="en-US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8375904" y="5029200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session per weekday in an isolated container. Nobody approves a trade.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·  Risk gates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6263640"/>
            <a:ext cx="5788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every-trade-provable.streamlit.app  ·  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is structural before it is procedural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719072"/>
            <a:ext cx="11091672" cy="713232"/>
          </a:xfrm>
          <a:prstGeom prst="roundRect">
            <a:avLst>
              <a:gd name="adj" fmla="val 10256"/>
            </a:avLst>
          </a:prstGeom>
          <a:solidFill>
            <a:srgbClr val="141922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19072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Single-leg long options only.  </a:t>
            </a:r>
            <a:pPr indent="0" marL="0">
              <a:buNone/>
            </a:pPr>
            <a:r>
              <a:rPr lang="en-US" sz="14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Maximum loss is the premium paid - enforced by the instrument, not by code that has to remember.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670048"/>
            <a:ext cx="3557016" cy="1389888"/>
          </a:xfrm>
          <a:prstGeom prst="roundRect">
            <a:avLst>
              <a:gd name="adj" fmla="val 526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41248" y="2871216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ONE-LOT GUARD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3163824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a second open lot on a (symbol, direction) already held.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15968" y="2670048"/>
            <a:ext cx="3557016" cy="1389888"/>
          </a:xfrm>
          <a:prstGeom prst="roundRect">
            <a:avLst>
              <a:gd name="adj" fmla="val 526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08576" y="2871216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DIRECTION / UNDERLYING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608576" y="3163824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simultaneous call and put on the same symbol.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83296" y="2670048"/>
            <a:ext cx="3557016" cy="1389888"/>
          </a:xfrm>
          <a:prstGeom prst="roundRect">
            <a:avLst>
              <a:gd name="adj" fmla="val 526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75904" y="2871216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 DEDUP · 30 MIN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375904" y="3163824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Entry-anchored, so a persistent score cannot stack the same name.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242816"/>
            <a:ext cx="3557016" cy="1389888"/>
          </a:xfrm>
          <a:prstGeom prst="roundRect">
            <a:avLst>
              <a:gd name="adj" fmla="val 526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1248" y="4443984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ADAPTIVE SIZING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" y="473659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Trimmed to the account's real options buying power - an expensive contract sizes down, never rejects.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315968" y="4242816"/>
            <a:ext cx="3557016" cy="1389888"/>
          </a:xfrm>
          <a:prstGeom prst="roundRect">
            <a:avLst>
              <a:gd name="adj" fmla="val 526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608576" y="4443984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SESSION WINDOW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4608576" y="473659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entry after 15:00 ET. Hard flatten at 15:50 - a 0DTE never reaches expiry.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083296" y="4242816"/>
            <a:ext cx="3557016" cy="1389888"/>
          </a:xfrm>
          <a:prstGeom prst="roundRect">
            <a:avLst>
              <a:gd name="adj" fmla="val 526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375904" y="4443984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ORPHAN SWEEP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375904" y="473659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option position the agent did not open is flattened at startup and at EOD.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87044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Exits ladder in both directions:  +40% scales out half and trails the runner by 40% of its peak gain  ·  -20% sells half, -40% the rest  ·  a 30-minute stop closes anything still under water  ·  15:50 flatten.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·  AI logic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6263640"/>
            <a:ext cx="5788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every-trade-provable.streamlit.app  ·  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that is structurally incapable of adding risk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2622042" cy="1417320"/>
          </a:xfrm>
          <a:prstGeom prst="roundRect">
            <a:avLst>
              <a:gd name="adj" fmla="val 5161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039112"/>
            <a:ext cx="262204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SCORED SIGNAL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68296"/>
            <a:ext cx="2439162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VWAP, OR break, RSI,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EMA, relative volume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170682" y="240030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371850" y="1874520"/>
            <a:ext cx="2622042" cy="1417320"/>
          </a:xfrm>
          <a:prstGeom prst="roundRect">
            <a:avLst>
              <a:gd name="adj" fmla="val 5161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71850" y="2039112"/>
            <a:ext cx="262204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RULES GATE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463290" y="2368296"/>
            <a:ext cx="2439162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≥ 0.70, outside the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half-OR band, regime agrees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993892" y="240030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195060" y="1874520"/>
            <a:ext cx="2622042" cy="1417320"/>
          </a:xfrm>
          <a:prstGeom prst="roundRect">
            <a:avLst>
              <a:gd name="adj" fmla="val 5161"/>
            </a:avLst>
          </a:prstGeom>
          <a:solidFill>
            <a:srgbClr val="141922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95060" y="2039112"/>
            <a:ext cx="262204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VETO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286500" y="2368296"/>
            <a:ext cx="2439162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 / bear debate,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regime read - no-go only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817102" y="2400300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6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018270" y="1874520"/>
            <a:ext cx="2622042" cy="1417320"/>
          </a:xfrm>
          <a:prstGeom prst="roundRect">
            <a:avLst>
              <a:gd name="adj" fmla="val 5161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018270" y="2039112"/>
            <a:ext cx="262204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109710" y="2368296"/>
            <a:ext cx="2439162" cy="795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ATM long via the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Alpaca CLI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611880"/>
            <a:ext cx="5440680" cy="1691640"/>
          </a:xfrm>
          <a:prstGeom prst="roundRect">
            <a:avLst>
              <a:gd name="adj" fmla="val 4324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1248" y="3813048"/>
            <a:ext cx="4855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ONE-WAY RULE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" y="4105656"/>
            <a:ext cx="4855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→ no-go only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841248" y="4572000"/>
            <a:ext cx="4855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can remove a trade the rules approved. It can never resurrect one they rejected, so the deterministic path is a strict subset of the AI path - and both are auditable against each other.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99632" y="3611880"/>
            <a:ext cx="5440680" cy="1691640"/>
          </a:xfrm>
          <a:prstGeom prst="roundRect">
            <a:avLst>
              <a:gd name="adj" fmla="val 4324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92240" y="3813048"/>
            <a:ext cx="4855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FAILS CLOSED, NEVER OPEN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4105656"/>
            <a:ext cx="4855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degrade, don't guess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4572000"/>
            <a:ext cx="4855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missing key or unparseable reply degrades to the deterministic gate and says so in the journal. The agent never trades on a model response it could not read.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4864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scored sessions ran the deterministic gate; the Claude veto ships tested and runnable via --decision-mode llm.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 ·  Alpaca infrastructure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6263640"/>
            <a:ext cx="5788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every-trade-provable.streamlit.app  ·  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order goes through the Alpaca CLI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1984248"/>
            <a:ext cx="4855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 PLACED THROUGH THE CLI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276856"/>
            <a:ext cx="485546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runs `alpaca order submit` and waits for the order to fill. It records the price it actually got, so the profit and loss is real money in and out - not an estimate from a quote.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99632" y="178308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92240" y="1984248"/>
            <a:ext cx="4855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 ACCOUNT, CHECKED EVERY TIME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276856"/>
            <a:ext cx="485546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it places anything, the agent confirms `alpaca doctor` is pointing at the paper endpoint. If it is not, the agent does not trade.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74904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" y="3950208"/>
            <a:ext cx="4855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NEVER A DUPLICATE ORDER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41248" y="4242816"/>
            <a:ext cx="485546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submit times out, the agent looks the order up by its own ID before trying again. The result is one order, or none - never two.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9632" y="374904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92240" y="3950208"/>
            <a:ext cx="4855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RUNS ON ITS OWN, AND LOGS IT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4242816"/>
            <a:ext cx="485546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Prices and contracts come from Alpaca's market data API. It runs in its own container, once each weekday, and writes a log line for every decision.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 ·  The audit trail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6263640"/>
            <a:ext cx="5788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every-trade-provable.streamlit.app  ·  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agents show the trades they took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727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one shows the ones it refused.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2423160"/>
            <a:ext cx="6766560" cy="2880360"/>
          </a:xfrm>
          <a:prstGeom prst="roundRect">
            <a:avLst>
              <a:gd name="adj" fmla="val 2540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2578608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logs/decisions-2026-09-03.jsonl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2926080"/>
            <a:ext cx="6309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A1A8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"symbol": "QQQ",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"score": 0.68,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A1A8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"would_have_direction": "put",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A1A8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"noise_band": { "state": "inside" },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"gate": { "go": false,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F0B4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"rationale": "score 0.68 &lt; min 0.70" },</a:t>
            </a:r>
            <a:endParaRPr lang="en-US" sz="13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A1A8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"order": null 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571232" y="2423160"/>
            <a:ext cx="4069080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63840" y="2624328"/>
            <a:ext cx="3483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RECORD PER SCAN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7863840" y="2916936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reasoning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3355848"/>
            <a:ext cx="3483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Score, every signal, band state, gate verdict, risk verdict, order.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571232" y="3931920"/>
            <a:ext cx="4069080" cy="1371600"/>
          </a:xfrm>
          <a:prstGeom prst="roundRect">
            <a:avLst>
              <a:gd name="adj" fmla="val 5333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863840" y="4133088"/>
            <a:ext cx="3483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4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IT MATTERS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863840" y="4425696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is implicit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863840" y="4864608"/>
            <a:ext cx="3483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 reconstruct every decision the agent made, and every one it declined to make.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5321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logs/ in the repo carries 14 journal records across 2 session files - clone it and check any decision against the record.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One-page write-up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852160" y="6263640"/>
            <a:ext cx="5788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every-trade-provable.streamlit.app  ·  github.com/KIBA0993/Alpaca-Hackathon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686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logic  ·  Risk gates  ·  Alpaca infrastructure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141922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6420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Alpaca paper PA38HG4D9653  ·  single-leg long 0DTE on SPY / QQQ / IWM  ·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$100,000 → $179,087 (+79.1%) across 3 sessions, 34 entries / 43 exits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395728"/>
            <a:ext cx="3538728" cy="3703320"/>
          </a:xfrm>
          <a:prstGeom prst="roundRect">
            <a:avLst>
              <a:gd name="adj" fmla="val 2067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4672" y="2578608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AI logic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2962656"/>
            <a:ext cx="3026664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Scorer reduces Alpaca 5m bars to one number: VWAP position, opening-range break, RSI, EMA stack, relative volume - plus a proposed direction.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Half-opening-range noise band: is the break larger than the symbol's own morning noise?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 breadth: 5 of 8 mega-caps above their 20-day average as of the last completed session. Only ever removes the opposed side.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Claude layer argues bull and bear over the scored facts and returns strict JSON - and can only turn a go into a no-go.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can never resurrect a rejected trade, so the deterministic path is a strict subset of the AI path.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missing key or unparseable reply degrades to the deterministic gate and says so in the journal.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25112" y="2395728"/>
            <a:ext cx="3538728" cy="3703320"/>
          </a:xfrm>
          <a:prstGeom prst="roundRect">
            <a:avLst>
              <a:gd name="adj" fmla="val 2067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81144" y="2578608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Risk gates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81144" y="2962656"/>
            <a:ext cx="3026664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Single-leg long only: max loss is the premium paid, set by the instrument.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open lot per (symbol, direction); one direction per underlying.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30-minute entry-anchored dedup, so a persistent score cannot stack the same name.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Sizing trimmed to the account's real options buying power - expensive contracts size down, never reject.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entry after 15:00 ET; hard flatten at 15:50, so a 0DTE never reaches expiry.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Orphan sweep at startup and EOD for positions the agent did not open.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Exits: +40% sells half and trails the runner; -20% half, -40% the rest; 30-min stop if under water.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174 network-free tests cover all of it.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101584" y="2395728"/>
            <a:ext cx="3538728" cy="3703320"/>
          </a:xfrm>
          <a:prstGeom prst="roundRect">
            <a:avLst>
              <a:gd name="adj" fmla="val 2067"/>
            </a:avLst>
          </a:prstGeom>
          <a:solidFill>
            <a:srgbClr val="141922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57616" y="2578608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Alpaca infrastructure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357616" y="2962656"/>
            <a:ext cx="3026664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order through the Alpaca CLI, not the SDK: `alpaca order submit`, then poll to a terminal state.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 agent books the real broker fill, not a quote - cash P&amp;L is buy-fill against sell-fill.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Refuses to place anything unless `alpaca doctor` resolves paper-api.alpaca.markets.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ambiguous submit is reconciled by --client-order-id before it will ever resubmit.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data - bars, contract discovery, ATM quotes - via the Alpaca Market Data API.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unattended in an isolated Docker container, one session per weekday.</a:t>
            </a:r>
            <a:endParaRPr lang="en-US" sz="950" dirty="0"/>
          </a:p>
          <a:p>
            <a:pPr marL="342900" indent="-342900">
              <a:lnSpc>
                <a:spcPct val="114000"/>
              </a:lnSpc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A1A8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scan appends one JSONL record with the full reasoning to logs/.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2636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6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 trading only. Hypothetical results; not investment advice.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Every Trade Provable. Every Loss Capped.</dc:title>
  <dc:subject>PptxGenJS Presentation</dc:subject>
  <dc:creator>KIBA0993</dc:creator>
  <cp:lastModifiedBy>KIBA0993</cp:lastModifiedBy>
  <cp:revision>1</cp:revision>
  <dcterms:created xsi:type="dcterms:W3CDTF">2026-09-04T00:46:14Z</dcterms:created>
  <dcterms:modified xsi:type="dcterms:W3CDTF">2026-09-04T00:46:14Z</dcterms:modified>
</cp:coreProperties>
</file>