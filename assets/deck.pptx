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Equity</c:v>
                </c:pt>
              </c:strCache>
            </c:strRef>
          </c:tx>
          <c:spPr>
            <a:solidFill>
              <a:srgbClr val="F0B429"/>
            </a:solidFill>
            <a:ln w="38100" cap="flat">
              <a:solidFill>
                <a:srgbClr val="F0B42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0B429"/>
              </a:solidFill>
              <a:ln w="25400" cap="flat">
                <a:solidFill>
                  <a:srgbClr val="0B0E1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Aug 28</c:v>
                  </c:pt>
                  <c:pt idx="1">
                    <c:v>Aug 31</c:v>
                  </c:pt>
                  <c:pt idx="2">
                    <c:v>Sep 1</c:v>
                  </c:pt>
                  <c:pt idx="3">
                    <c:v>Sep 2</c:v>
                  </c:pt>
                  <c:pt idx="4">
                    <c:v>Sep 3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100000</c:v>
                </c:pt>
                <c:pt idx="1">
                  <c:v>89283.96</c:v>
                </c:pt>
                <c:pt idx="2">
                  <c:v>103637.13</c:v>
                </c:pt>
                <c:pt idx="3">
                  <c:v>103637.13</c:v>
                </c:pt>
                <c:pt idx="4">
                  <c:v>183298.37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686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000"/>
          <c:min val="80000"/>
        </c:scaling>
        <c:delete val="0"/>
        <c:axPos val="l"/>
        <c:majorGridlines>
          <c:spPr>
            <a:ln w="12700" cap="flat">
              <a:solidFill>
                <a:srgbClr val="232A38"/>
              </a:solidFill>
              <a:prstDash val="solid"/>
              <a:round/>
            </a:ln>
          </c:spPr>
        </c:majorGridlines>
        <c:numFmt formatCode="$#,##0,\K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686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  <c:majorUnit val="20000"/>
      </c:valAx>
      <c:spPr>
        <a:solidFill>
          <a:srgbClr val="141922"/>
        </a:solidFill>
        <a:ln>
          <a:noFill/>
        </a:ln>
        <a:effectLst/>
      </c:spPr>
    </c:plotArea>
    <c:plotVisOnly val="1"/>
    <c:dispBlanksAs val="span"/>
  </c:chart>
  <c:spPr>
    <a:solidFill>
      <a:srgbClr val="1419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agent in this hackathon opens with an edge claim. This one opens with a refutation — and the live number makes the point sharper, not softer.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removed the exit rule entirely and asked the cleanest question: does the signal predict direction? Once each session gets an equal vote, it is below a coin flip.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consequences of having no edge: fix the loss structurally, scope the AI to removal, and make the whole thing auditable.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what is missing: nothing here depends on the signal being right. These gates are what you build when you assume it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submissions say LLM proposes, code decides. Ours goes further: the LLM is structurally incapable of adding risk, and we disclose that the scored arm ran without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CLI is not a box-tick. It is why the P&amp;L on the slide after this is broker truth rather than a mid-price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will see the number. What they should also see is that we are the only ones telling them how much of it is variance.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claim, not the number. The number is this week; the architecture is the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Alpaca AI Trading Agents Hackathon  ·  Sept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6263640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github.com/KIBA0993/defined-risk-0dte-agent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That</a:t>
            </a:r>
            <a:endParaRPr lang="en-US" sz="5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Its Own Backtest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033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Defined-risk 0DTE options on Alpaca. Max loss fixed by the instrument —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by code that has to remember.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4617720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141922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4818888"/>
            <a:ext cx="2843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BACKTEST VERDICT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5111496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−$8 / trade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5577840"/>
            <a:ext cx="28437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248 sessions, real OPRA tape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4617720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141922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98848" y="4818888"/>
            <a:ext cx="2843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ALPACA PAPER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498848" y="5111496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+83.3%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498848" y="5577840"/>
            <a:ext cx="28437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$100,000 → $183,298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sessions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0" y="4617720"/>
            <a:ext cx="3776472" cy="1463040"/>
          </a:xfrm>
          <a:prstGeom prst="roundRect">
            <a:avLst>
              <a:gd name="adj" fmla="val 5000"/>
            </a:avLst>
          </a:prstGeom>
          <a:solidFill>
            <a:srgbClr val="141922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56448" y="4818888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 ACCOUNT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156448" y="5111496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PA38HG4D9653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156448" y="5577840"/>
            <a:ext cx="31912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Opened fresh for this event at $100,000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·  The research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6263640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github.com/KIBA0993/defined-risk-0dte-agent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tried to break our own signal. We succeeded.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year of real Alpaca OPRA option bars, ~248 sessions, SPY / QQQ / IWM. Every test reviewed by a second adversarial pass; these are the numbers that survived.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141922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670048"/>
            <a:ext cx="2935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SIMULATED P&amp;L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962656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−$8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566160"/>
            <a:ext cx="2935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trade, ~40% win rate. Both calls and puts underwater.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15968" y="24688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141922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08576" y="2670048"/>
            <a:ext cx="2935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 RATE, SESSION-WEIGHTED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608576" y="2962656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49.4%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608576" y="3566160"/>
            <a:ext cx="2935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+15 min. 49.2% at 30, 47.8% at 60 — worse with horizon.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83296" y="2468880"/>
            <a:ext cx="3557016" cy="1920240"/>
          </a:xfrm>
          <a:prstGeom prst="roundRect">
            <a:avLst>
              <a:gd name="adj" fmla="val 3810"/>
            </a:avLst>
          </a:prstGeom>
          <a:solidFill>
            <a:srgbClr val="141922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75904" y="267004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MOVE VS THE COST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375904" y="296265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bp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375904" y="356616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30-min move. Crossing the spread costs ~20 bp before decay.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7091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apparent 52% was a size-weighting artifact of a handful of busy sessions. The recurring trap: any rule that cuts position count flatters a negative-expectancy book.”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623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docs/research.md — the full autopsy, including every filter we retired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·  The design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6263640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github.com/KIBA0993/defined-risk-0dte-agent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we built what survives not having one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700784" cy="1371600"/>
          </a:xfrm>
          <a:prstGeom prst="roundRect">
            <a:avLst>
              <a:gd name="adj" fmla="val 5333"/>
            </a:avLst>
          </a:prstGeom>
          <a:solidFill>
            <a:srgbClr val="141922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121408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50592"/>
            <a:ext cx="15179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Alpaca 5m bars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249424" y="237744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50592" y="1965960"/>
            <a:ext cx="1700784" cy="1371600"/>
          </a:xfrm>
          <a:prstGeom prst="roundRect">
            <a:avLst>
              <a:gd name="adj" fmla="val 5333"/>
            </a:avLst>
          </a:prstGeom>
          <a:solidFill>
            <a:srgbClr val="141922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50592" y="2121408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542032" y="2450592"/>
            <a:ext cx="15179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VWAP, OR, RSI,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EMA, rel-vol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151376" y="237744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52544" y="1965960"/>
            <a:ext cx="1700784" cy="1371600"/>
          </a:xfrm>
          <a:prstGeom prst="roundRect">
            <a:avLst>
              <a:gd name="adj" fmla="val 5333"/>
            </a:avLst>
          </a:prstGeom>
          <a:solidFill>
            <a:srgbClr val="141922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52544" y="2121408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443984" y="2450592"/>
            <a:ext cx="15179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 + regime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 optional veto)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053328" y="237744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54496" y="1965960"/>
            <a:ext cx="1700784" cy="1371600"/>
          </a:xfrm>
          <a:prstGeom prst="roundRect">
            <a:avLst>
              <a:gd name="adj" fmla="val 5333"/>
            </a:avLst>
          </a:prstGeom>
          <a:solidFill>
            <a:srgbClr val="141922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54496" y="2121408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45936" y="2450592"/>
            <a:ext cx="15179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caps, cooldowns,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sizing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0" y="237744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56448" y="1965960"/>
            <a:ext cx="1700784" cy="1371600"/>
          </a:xfrm>
          <a:prstGeom prst="roundRect">
            <a:avLst>
              <a:gd name="adj" fmla="val 5333"/>
            </a:avLst>
          </a:prstGeom>
          <a:solidFill>
            <a:srgbClr val="141922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56448" y="2121408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47888" y="2450592"/>
            <a:ext cx="15179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 long via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Alpaca CLI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857232" y="237744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058400" y="1965960"/>
            <a:ext cx="1700784" cy="1371600"/>
          </a:xfrm>
          <a:prstGeom prst="roundRect">
            <a:avLst>
              <a:gd name="adj" fmla="val 5333"/>
            </a:avLst>
          </a:prstGeom>
          <a:solidFill>
            <a:srgbClr val="141922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58400" y="2121408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149840" y="2450592"/>
            <a:ext cx="15179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ladder exits,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15:50 flatten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611880"/>
            <a:ext cx="3520440" cy="2240280"/>
          </a:xfrm>
          <a:prstGeom prst="roundRect">
            <a:avLst>
              <a:gd name="adj" fmla="val 3265"/>
            </a:avLst>
          </a:prstGeom>
          <a:solidFill>
            <a:srgbClr val="141922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41248" y="3813048"/>
            <a:ext cx="2935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DEFINED BY CONSTRUCTION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41248" y="4105656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loss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premium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841248" y="5029200"/>
            <a:ext cx="2935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Single-leg long only. No path to a blow-up — the point when there is no edge to lean on.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315968" y="3611880"/>
            <a:ext cx="3520440" cy="2240280"/>
          </a:xfrm>
          <a:prstGeom prst="roundRect">
            <a:avLst>
              <a:gd name="adj" fmla="val 3265"/>
            </a:avLst>
          </a:prstGeom>
          <a:solidFill>
            <a:srgbClr val="141922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608576" y="3813048"/>
            <a:ext cx="2935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SCOPED TO RISK-OFF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608576" y="4105656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 only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no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4608576" y="5029200"/>
            <a:ext cx="2935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could not measure the model adding P&amp;L, so we never let it manufacture conviction.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083296" y="3611880"/>
            <a:ext cx="3557016" cy="2240280"/>
          </a:xfrm>
          <a:prstGeom prst="roundRect">
            <a:avLst>
              <a:gd name="adj" fmla="val 3265"/>
            </a:avLst>
          </a:prstGeom>
          <a:solidFill>
            <a:srgbClr val="141922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75904" y="381304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RADICAL TRANSPARENCY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375904" y="4105656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refusal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journaled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8375904" y="502920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JSONL record per scan with the full reasoning. The audit trail is the product.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·  Risk gates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6263640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github.com/KIBA0993/defined-risk-0dte-agent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is structural first, procedural second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19072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141922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19072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Single-leg long options only.  </a:t>
            </a:r>
            <a:pPr indent="0" marL="0">
              <a:buNone/>
            </a:pPr>
            <a:r>
              <a:rPr lang="en-US" sz="14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loss is the premium paid — enforced by the instrument, not by code that has to remember.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70048"/>
            <a:ext cx="3557016" cy="1389888"/>
          </a:xfrm>
          <a:prstGeom prst="roundRect">
            <a:avLst>
              <a:gd name="adj" fmla="val 5263"/>
            </a:avLst>
          </a:prstGeom>
          <a:solidFill>
            <a:srgbClr val="141922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87121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ONE-LOT GUARD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16382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 second open lot on a (symbol, direction) already held.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15968" y="2670048"/>
            <a:ext cx="3557016" cy="1389888"/>
          </a:xfrm>
          <a:prstGeom prst="roundRect">
            <a:avLst>
              <a:gd name="adj" fmla="val 5263"/>
            </a:avLst>
          </a:prstGeom>
          <a:solidFill>
            <a:srgbClr val="141922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08576" y="287121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DIRECTION / UNDERLYING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608576" y="316382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simultaneous call and put on the same symbol.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83296" y="2670048"/>
            <a:ext cx="3557016" cy="1389888"/>
          </a:xfrm>
          <a:prstGeom prst="roundRect">
            <a:avLst>
              <a:gd name="adj" fmla="val 5263"/>
            </a:avLst>
          </a:prstGeom>
          <a:solidFill>
            <a:srgbClr val="141922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75904" y="287121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 DEDUP · 30 MIN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375904" y="316382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Entry-anchored, so a persistent score cannot stack the same name.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42816"/>
            <a:ext cx="3557016" cy="1389888"/>
          </a:xfrm>
          <a:prstGeom prst="roundRect">
            <a:avLst>
              <a:gd name="adj" fmla="val 5263"/>
            </a:avLst>
          </a:prstGeom>
          <a:solidFill>
            <a:srgbClr val="141922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44398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SCOPED COOLDOWN · 15 MIN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73659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Re-entry block armed only by a time_stop close.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15968" y="4242816"/>
            <a:ext cx="3557016" cy="1389888"/>
          </a:xfrm>
          <a:prstGeom prst="roundRect">
            <a:avLst>
              <a:gd name="adj" fmla="val 5263"/>
            </a:avLst>
          </a:prstGeom>
          <a:solidFill>
            <a:srgbClr val="141922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08576" y="444398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ADAPTIVE SIZING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608576" y="473659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trimmed to the account's real options buying power — pricey contracts size down, never reject.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83296" y="4242816"/>
            <a:ext cx="3557016" cy="1389888"/>
          </a:xfrm>
          <a:prstGeom prst="roundRect">
            <a:avLst>
              <a:gd name="adj" fmla="val 5263"/>
            </a:avLst>
          </a:prstGeom>
          <a:solidFill>
            <a:srgbClr val="141922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75904" y="444398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WINDOW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375904" y="473659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entry after 15:00 ET. Hard flatten 15:50 — a 0DTE never reaches expiry.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87044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Exits ladder both ways:  +40% scales out half and trails the runner  ·  −20% sells half, −40% the rest, −65% backstop  ·  30-min time stop  ·  EOD flatten  ·  175 tests.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·  AI logic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6263640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github.com/KIBA0993/defined-risk-0dte-agent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is the least-trusted component, by design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41922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04825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Scored signal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14016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VWAP, OR break, RSI,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EMA, relative volume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233172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56432" y="18745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41922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6432" y="204825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gate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93592" y="2414016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≥ 0.70, outside the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half-OR band, regime agrees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108192" y="233172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364224" y="18745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41922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64224" y="204825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veto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01384" y="2414016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 / bear debate,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 read — no-go only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015984" y="233172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272016" y="18745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41922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72016" y="204825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409176" y="2414016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 long via the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Alpaca CLI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141922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" y="3813048"/>
            <a:ext cx="4855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ONE-WAY RULE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" y="4105656"/>
            <a:ext cx="4855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→ no-go only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4572000"/>
            <a:ext cx="4855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can never resurrect a trade the rules rejected, so rules_only is a strict mathematical floor under the AI path. Missing key or bad JSON degrades to rules and logs it — it never fails open.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99632" y="361188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141922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92240" y="3813048"/>
            <a:ext cx="4855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SUBMITTED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4105656"/>
            <a:ext cx="4855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decision_mode: rules_only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4572000"/>
            <a:ext cx="4855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scored run used the deterministic stack. The LLM gate ships tested and runnable (--decision-mode llm) but was not in the scored path — we say which arm produced the numbers.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5778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never let it manufacture conviction we couldn't measure — because we measured, and it wasn't there.”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·  Alpaca infrastructure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6263640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github.com/KIBA0993/defined-risk-0dte-agent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Alpaca's CLI, not just the SDK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141922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984248"/>
            <a:ext cx="4855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 VIA THE ALPACA CLI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276856"/>
            <a:ext cx="485546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alpaca order submit, then poll to a terminal state. The agent books the real broker fill, not a quote — so cash P&amp;L is buy-fill vs sell-fill.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99632" y="178308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141922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984248"/>
            <a:ext cx="4855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 ENDPOINT, PROVEN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276856"/>
            <a:ext cx="485546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Refuses to place anything unless `alpaca doctor` resolves paper-api.alpaca.markets. The env var alone isn't proof — a profile's live_trade can route live.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141922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" y="3950208"/>
            <a:ext cx="4855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IDEMPOTENT SUBMITS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4242816"/>
            <a:ext cx="485546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an ambiguous failure it reconciles by --client-order-id via `alpaca order get-by-client-id` before ever resubmitting. No duplicate, no orphan.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9632" y="374904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141922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3950208"/>
            <a:ext cx="4855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UNATTENDED + AUDITABLE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4242816"/>
            <a:ext cx="485546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data (5m bars, contract discovery, ATM quotes) via the Alpaca SDK. Isolated Docker container on a NAS, one session per weekday, JSONL journal per scan.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 met: projects must use Alpaca's MCP server or its CLI tools.   —   this agent places every order through the CLI.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·  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6263640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github.com/KIBA0993/defined-risk-0dte-agent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sessions, reported honestly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492240" cy="3200400"/>
          </a:xfrm>
          <a:prstGeom prst="roundRect">
            <a:avLst>
              <a:gd name="adj" fmla="val 2286"/>
            </a:avLst>
          </a:prstGeom>
          <a:solidFill>
            <a:srgbClr val="141922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01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EQUITY · ALPACA PAPER PA38HG4D9653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13232" y="2212848"/>
          <a:ext cx="6163056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269480" y="1901952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REALIZED BY SESSION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269480" y="2240280"/>
            <a:ext cx="4370832" cy="493776"/>
          </a:xfrm>
          <a:prstGeom prst="roundRect">
            <a:avLst>
              <a:gd name="adj" fmla="val 11111"/>
            </a:avLst>
          </a:prstGeom>
          <a:solidFill>
            <a:srgbClr val="141922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52360" y="2240280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31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2240280"/>
            <a:ext cx="1325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−$10,636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829800" y="2240280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closes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0744200" y="2240280"/>
            <a:ext cx="777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31.6% win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269480" y="2807208"/>
            <a:ext cx="4370832" cy="493776"/>
          </a:xfrm>
          <a:prstGeom prst="roundRect">
            <a:avLst>
              <a:gd name="adj" fmla="val 11111"/>
            </a:avLst>
          </a:prstGeom>
          <a:solidFill>
            <a:srgbClr val="141922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52360" y="2807208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1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412480" y="2807208"/>
            <a:ext cx="1325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+$14,400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829800" y="2807208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closes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744200" y="2807208"/>
            <a:ext cx="777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88.9% win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269480" y="3374136"/>
            <a:ext cx="4370832" cy="493776"/>
          </a:xfrm>
          <a:prstGeom prst="roundRect">
            <a:avLst>
              <a:gd name="adj" fmla="val 11111"/>
            </a:avLst>
          </a:prstGeom>
          <a:solidFill>
            <a:srgbClr val="141922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52360" y="3374136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3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412480" y="3374136"/>
            <a:ext cx="1325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+$71,400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829800" y="3374136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closes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744200" y="3374136"/>
            <a:ext cx="777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76.9% win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269480" y="4041648"/>
            <a:ext cx="4370832" cy="896112"/>
          </a:xfrm>
          <a:prstGeom prst="roundRect">
            <a:avLst>
              <a:gd name="adj" fmla="val 8163"/>
            </a:avLst>
          </a:prstGeom>
          <a:solidFill>
            <a:srgbClr val="141922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562088" y="4242816"/>
            <a:ext cx="3785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NET, LIVE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562088" y="4535424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+83.3%  ·  $183,298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548640" y="5138928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41922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960" y="5138928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won't call that edge.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own data says this signal has none, one session supplies most of the gain, and the same distribution handed us −10.7% on day one. Four sessions is not a sample — it is an anecdote with a good outcome.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are actually claiming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6263640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github.com/KIBA0993/defined-risk-0dte-agent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equity curve is just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 this week.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4290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loss fixed by the instrument</a:t>
            </a:r>
            <a:pPr indent="0" marL="0">
              <a:buNone/>
            </a:pPr>
            <a:r>
              <a:rPr lang="en-US" sz="15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not by code that has to remember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3250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032504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that is only allowed to say no</a:t>
            </a:r>
            <a:pPr indent="0" marL="0">
              <a:buNone/>
            </a:pPr>
            <a:r>
              <a:rPr lang="en-US" sz="15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scoped to what we could actually measure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63600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63600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 that hold when the P&amp;L is ugly</a:t>
            </a:r>
            <a:pPr indent="0" marL="0">
              <a:buNone/>
            </a:pPr>
            <a:r>
              <a:rPr lang="en-US" sz="15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they never depend on the signal being right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23951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23951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journal of every trade it refused</a:t>
            </a:r>
            <a:pPr indent="0" marL="0">
              <a:buNone/>
            </a:pPr>
            <a:r>
              <a:rPr lang="en-US" sz="1500" dirty="0">
                <a:solidFill>
                  <a:srgbClr val="A1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the audit trail is the deliverable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263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 trading only. Hypothetical results; not investment advice.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Agent That Failed Its Own Backtest</dc:title>
  <dc:subject>PptxGenJS Presentation</dc:subject>
  <dc:creator>KIBA0993</dc:creator>
  <cp:lastModifiedBy>KIBA0993</cp:lastModifiedBy>
  <cp:revision>1</cp:revision>
  <dcterms:created xsi:type="dcterms:W3CDTF">2026-09-03T19:16:46Z</dcterms:created>
  <dcterms:modified xsi:type="dcterms:W3CDTF">2026-09-03T19:16:46Z</dcterms:modified>
</cp:coreProperties>
</file>